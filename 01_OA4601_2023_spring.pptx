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9.jpeg" ContentType="image/jpeg"/>
  <Override PartName="/ppt/media/image3.png" ContentType="image/png"/>
  <Override PartName="/ppt/media/image4.png" ContentType="image/png"/>
  <Override PartName="/ppt/media/image8.jpeg" ContentType="image/jpeg"/>
  <Override PartName="/ppt/media/image5.png" ContentType="image/png"/>
  <Override PartName="/ppt/media/image6.png" ContentType="image/png"/>
  <Override PartName="/ppt/media/image7.jpeg" ContentType="image/jpe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/>
  <p:notesSz cx="7315200" cy="9601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sldNum" idx="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A0BD59F-31D3-4C84-8B26-CBE4F0B950F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Num" idx="11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A442CD-66D8-42F8-8FE3-29100EE91ED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Num" idx="12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F50B582-C63D-428A-8A36-C914A4B365B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3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411F15-6661-48C2-B5D2-A018455E18C6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720" cy="32396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800" cy="378000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4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A9F51A-CC60-4490-BE86-A67EE8B117B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Num" idx="15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FDD604-C0D4-417D-AC26-220851717713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Num" idx="16"/>
          </p:nvPr>
        </p:nvSpPr>
        <p:spPr>
          <a:xfrm>
            <a:off x="4143600" y="9119520"/>
            <a:ext cx="3169440" cy="48132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3238BF-E35B-467E-A5A0-91C309FDF0A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840" cy="411444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txBody>
          <a:bodyPr lIns="90000" rIns="90000" tIns="45000" bIns="45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CE9C2EF-FED6-45F2-B5A3-43AB3B6933F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99C8952-D709-488E-B8B4-EFA55FAE24A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924CC65-D74E-42CF-8BBB-B709DB50E03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3BC211C-37B7-49AA-8980-E6779785E49D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8C4DDE1-1C29-48A5-BA12-7393E80AB5F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5440" y="-1288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4B99D6A-5CAA-4559-838D-E6D09BFA5AC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EF728CA-02D9-4C31-9CF6-362B65BBD061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51281C-9DCA-4554-96FF-0C62AA3138B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E75B4A-E9DA-4F71-9CAA-1F5F8886024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BDE6BD3-777A-4056-8785-59FB70865A9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7E48DBA-8011-44C8-969A-9217DF58085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A2F23B0-86BC-4579-B777-ED5978D54EB9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238DD4-C765-4826-97A4-78BD28033E48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4AF4FA-D6D4-4D64-98A0-4676E5C9820A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96ECCB-DE13-469E-B829-4EB65ECD4E71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B2E816B-A5FD-495B-BAA5-EC7ED29144C1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13D4CC-442D-430F-9C94-C9D8E3CB636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5440" y="-1288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D35C46-557F-4604-BE43-34493EDDEA40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B49792-BD1B-4045-A0C9-D22D2F1EBE3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2A40E3-9557-476B-B7E1-0E77EBDA0A10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D622B4-60DF-4E14-8CD8-B629B456CF10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BD78D9-B25A-48EC-9114-02C7F15CEC0E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B6CD04-8549-4DFE-A4CE-98AE79ADF5CF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FD61D1-61ED-4BC3-9802-2B1096131300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6762CF-5ADF-449B-8503-1D5030FBE8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A17FF3-20DA-4642-8E3F-1A7FA22BA7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1EE6A26-AD1D-4A87-BF6B-792FB91D84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53087E-18AF-4C6B-A7B9-E42BC7EF7A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FA464A-844F-416B-9E24-BE775A97B0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505440" y="-1288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B3CBC8E-E093-4F01-9772-3F5BEE2A78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81170E-D8A4-478E-9F36-B4099CD35D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A157A7-F0BC-434C-AED6-483ACD61B0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69A680-FD93-444F-B171-7F78B74597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47D7A0-9CB4-43B9-BE08-823823FD7D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07712F-C72F-403D-B02C-212018B493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C70282-6E19-4C6D-89FF-AAE1C45CD43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NPS_Logo.png"/>
          <p:cNvPicPr/>
          <p:nvPr/>
        </p:nvPicPr>
        <p:blipFill>
          <a:blip r:embed="rId2"/>
          <a:stretch/>
        </p:blipFill>
        <p:spPr>
          <a:xfrm>
            <a:off x="23760" y="29880"/>
            <a:ext cx="1055880" cy="736560"/>
          </a:xfrm>
          <a:prstGeom prst="rect">
            <a:avLst/>
          </a:prstGeom>
          <a:ln w="0">
            <a:noFill/>
          </a:ln>
        </p:spPr>
      </p:pic>
      <p:pic>
        <p:nvPicPr>
          <p:cNvPr id="1" name="Picture 9" descr="NPS_Logo.png"/>
          <p:cNvPicPr/>
          <p:nvPr/>
        </p:nvPicPr>
        <p:blipFill>
          <a:blip r:embed="rId3"/>
          <a:stretch/>
        </p:blipFill>
        <p:spPr>
          <a:xfrm>
            <a:off x="8075520" y="31680"/>
            <a:ext cx="1055880" cy="7365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7004520" y="647496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AF22E0-CA86-49FB-8724-7844EB0BF81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Click to edit the outline text </a:t>
            </a: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format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mbri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mbria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3" descr="NPS_Logo.png"/>
          <p:cNvPicPr/>
          <p:nvPr/>
        </p:nvPicPr>
        <p:blipFill>
          <a:blip r:embed="rId2"/>
          <a:stretch/>
        </p:blipFill>
        <p:spPr>
          <a:xfrm>
            <a:off x="23760" y="29880"/>
            <a:ext cx="1055880" cy="73656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9" descr="NPS_Logo.png"/>
          <p:cNvPicPr/>
          <p:nvPr/>
        </p:nvPicPr>
        <p:blipFill>
          <a:blip r:embed="rId3"/>
          <a:stretch/>
        </p:blipFill>
        <p:spPr>
          <a:xfrm>
            <a:off x="8075520" y="31680"/>
            <a:ext cx="1055880" cy="73656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00"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mbria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mbria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"/>
          </p:nvPr>
        </p:nvSpPr>
        <p:spPr>
          <a:xfrm>
            <a:off x="7004520" y="64987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A5C223F-9C53-48E2-BE05-829319EE604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NPS_Logo.png"/>
          <p:cNvPicPr/>
          <p:nvPr/>
        </p:nvPicPr>
        <p:blipFill>
          <a:blip r:embed="rId2"/>
          <a:stretch/>
        </p:blipFill>
        <p:spPr>
          <a:xfrm>
            <a:off x="23760" y="29880"/>
            <a:ext cx="1055880" cy="73656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9" descr="NPS_Logo.png"/>
          <p:cNvPicPr/>
          <p:nvPr/>
        </p:nvPicPr>
        <p:blipFill>
          <a:blip r:embed="rId3"/>
          <a:stretch/>
        </p:blipFill>
        <p:spPr>
          <a:xfrm>
            <a:off x="8075520" y="31680"/>
            <a:ext cx="1055880" cy="73656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28600"/>
            <a:ext cx="6171840" cy="685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1676520"/>
            <a:ext cx="3809520" cy="4419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mbria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mbria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48320" y="1676520"/>
            <a:ext cx="3809520" cy="2133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mbria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mbria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648320" y="3962520"/>
            <a:ext cx="3809520" cy="2133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mbria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mbria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dt" idx="3"/>
          </p:nvPr>
        </p:nvSpPr>
        <p:spPr>
          <a:xfrm>
            <a:off x="685800" y="6248520"/>
            <a:ext cx="1904760" cy="45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ftr" idx="4"/>
          </p:nvPr>
        </p:nvSpPr>
        <p:spPr>
          <a:xfrm>
            <a:off x="3124080" y="6248520"/>
            <a:ext cx="2895120" cy="45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&lt;footer&gt;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sldNum" idx="5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37EC52-DCC6-40B6-8A85-9CB0FFAA457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mailto:ryoshida@nps.edu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eb.stanford.edu/~hastie/Papers/ESLII.pdf" TargetMode="External"/><Relationship Id="rId2" Type="http://schemas.openxmlformats.org/officeDocument/2006/relationships/hyperlink" Target="http://infolab.stanford.edu/~ullman/mmds/book.pdf" TargetMode="External"/><Relationship Id="rId3" Type="http://schemas.openxmlformats.org/officeDocument/2006/relationships/slideLayout" Target="../slideLayouts/slideLayout3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r-project.org/" TargetMode="External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33520" y="1523880"/>
            <a:ext cx="7772040" cy="27428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Introduction</a:t>
            </a:r>
            <a:br>
              <a:rPr sz="4000"/>
            </a:br>
            <a:r>
              <a:rPr b="1" lang="en-US" sz="2800" spc="-1" strike="noStrike">
                <a:solidFill>
                  <a:srgbClr val="000000"/>
                </a:solidFill>
                <a:latin typeface="Cambria"/>
              </a:rPr>
              <a:t>OA4601 Advanced Data Analysis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838080" y="3886200"/>
            <a:ext cx="769572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mbria"/>
              </a:rPr>
              <a:t>Instructor: Ruriko Yoshida Prof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mbria"/>
              </a:rPr>
              <a:t>Naval Postgraduate School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mbria"/>
              </a:rPr>
              <a:t>Monterey, California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35" name="Picture 8" descr="home_topimg"/>
          <p:cNvPicPr/>
          <p:nvPr/>
        </p:nvPicPr>
        <p:blipFill>
          <a:blip r:embed="rId1"/>
          <a:stretch/>
        </p:blipFill>
        <p:spPr>
          <a:xfrm>
            <a:off x="0" y="0"/>
            <a:ext cx="9143640" cy="1252080"/>
          </a:xfrm>
          <a:prstGeom prst="rect">
            <a:avLst/>
          </a:prstGeom>
          <a:ln w="0">
            <a:noFill/>
          </a:ln>
        </p:spPr>
      </p:pic>
      <p:sp>
        <p:nvSpPr>
          <p:cNvPr id="136" name="Line 9"/>
          <p:cNvSpPr/>
          <p:nvPr/>
        </p:nvSpPr>
        <p:spPr>
          <a:xfrm>
            <a:off x="0" y="1249200"/>
            <a:ext cx="9144000" cy="360"/>
          </a:xfrm>
          <a:prstGeom prst="line">
            <a:avLst/>
          </a:prstGeom>
          <a:ln w="317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91D3A2B-760E-4C47-B1A6-41A065DD2B82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OA4106 Outcomes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2000"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Our goals for you </a:t>
            </a:r>
            <a:r>
              <a:rPr b="0" i="1" lang="en-US" sz="3200" spc="-1" strike="noStrike">
                <a:solidFill>
                  <a:srgbClr val="000000"/>
                </a:solidFill>
                <a:latin typeface="Cambria"/>
              </a:rPr>
              <a:t>during</a:t>
            </a: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 these courses are that you: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achieve an understanding of the key concepts in data science modeling (via readings, lectures, discussions)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demonstrate the ability to apply these concepts in a practical way on a carefully curated set of problems (via quizzes, labs, and projects)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 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Our goal for you after these courses are that you: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can apply supervised and unsupervised machine learning models in a practical way on real-world problems you encounter in your job for the Department of Defense.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E59AA5-A45F-4EC6-81A4-2F37761591B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7898040" cy="1249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Dr Ruriko Yoshida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05480" y="1308240"/>
            <a:ext cx="7136640" cy="5190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00"/>
          </a:bodyPr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mbria"/>
              </a:rPr>
              <a:t>Obtained a PhD degree in mathematics at UC Davis in 2004.</a:t>
            </a:r>
            <a:endParaRPr b="0" lang="en-US" sz="2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mbria"/>
              </a:rPr>
              <a:t>Worked as a postdoc at UC Berkeley in 2004.</a:t>
            </a:r>
            <a:endParaRPr b="0" lang="en-US" sz="2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mbria"/>
              </a:rPr>
              <a:t>Worked as an assistant research professor at Duke University from 2004 to 2006.</a:t>
            </a:r>
            <a:endParaRPr b="0" lang="en-US" sz="2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mbria"/>
              </a:rPr>
              <a:t>Worked as an assistant professor at U of Kentucky from 2006 to 2012.</a:t>
            </a:r>
            <a:endParaRPr b="0" lang="en-US" sz="2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mbria"/>
              </a:rPr>
              <a:t>Worked as an associate professor at U of Kentucky from 2012 to 2016.</a:t>
            </a:r>
            <a:endParaRPr b="0" lang="en-US" sz="2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mbria"/>
              </a:rPr>
              <a:t>Joined in OR department at NPS as an associate professor from 2016.</a:t>
            </a:r>
            <a:endParaRPr b="0" lang="en-US" sz="2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mbria"/>
              </a:rPr>
              <a:t>Promoted to a full professor in 2023.</a:t>
            </a:r>
            <a:endParaRPr b="0" lang="en-US" sz="26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pic>
        <p:nvPicPr>
          <p:cNvPr id="141" name="Picture 4" descr=""/>
          <p:cNvPicPr/>
          <p:nvPr/>
        </p:nvPicPr>
        <p:blipFill>
          <a:blip r:embed="rId1"/>
          <a:stretch/>
        </p:blipFill>
        <p:spPr>
          <a:xfrm>
            <a:off x="7004520" y="1060200"/>
            <a:ext cx="1921320" cy="17769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5712A7-DC30-4F37-B082-CFCCF6ED1F2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Contact Information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Rectangle 6"/>
          <p:cNvSpPr/>
          <p:nvPr/>
        </p:nvSpPr>
        <p:spPr>
          <a:xfrm>
            <a:off x="1587600" y="1130400"/>
            <a:ext cx="683208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mbria"/>
                <a:ea typeface="Calibri"/>
              </a:rPr>
              <a:t>OA4106: Advanced Data Science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mbria"/>
                <a:ea typeface="Calibri"/>
              </a:rPr>
              <a:t>Dr. Rudy Yoshida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mbria"/>
                <a:ea typeface="Calibri"/>
              </a:rPr>
              <a:t>Professor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mbria"/>
                <a:ea typeface="Calibri"/>
              </a:rPr>
              <a:t>Operations Research Department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mbria"/>
                <a:ea typeface="Calibri"/>
              </a:rPr>
              <a:t>Email: </a:t>
            </a:r>
            <a:r>
              <a:rPr b="0" lang="en-US" sz="3600" spc="-1" strike="noStrike" u="sng">
                <a:solidFill>
                  <a:srgbClr val="0000ff"/>
                </a:solidFill>
                <a:uFillTx/>
                <a:latin typeface="Cambria"/>
                <a:ea typeface="Calibri"/>
                <a:hlinkClick r:id="rId1"/>
              </a:rPr>
              <a:t>ryoshida@nps.edu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600" spc="-1" strike="noStrike" u="sng">
                <a:solidFill>
                  <a:srgbClr val="000000"/>
                </a:solidFill>
                <a:uFillTx/>
                <a:latin typeface="Cambria"/>
                <a:ea typeface="Calibri"/>
              </a:rPr>
              <a:t>Office: GL 248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mbria"/>
                <a:ea typeface="Calibri"/>
              </a:rPr>
              <a:t>Phone: (831) 656-2973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Cambria"/>
                <a:ea typeface="Calibri"/>
              </a:rPr>
              <a:t>Cell phone: (859)913-1463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E17ACB-1DFC-4F68-A3F1-7346E4F72E6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Table 1"/>
          <p:cNvGraphicFramePr/>
          <p:nvPr/>
        </p:nvGraphicFramePr>
        <p:xfrm>
          <a:off x="457200" y="1600200"/>
          <a:ext cx="8229240" cy="2752200"/>
        </p:xfrm>
        <a:graphic>
          <a:graphicData uri="http://schemas.openxmlformats.org/drawingml/2006/table">
            <a:tbl>
              <a:tblPr/>
              <a:tblGrid>
                <a:gridCol w="508680"/>
                <a:gridCol w="2929680"/>
                <a:gridCol w="2271960"/>
                <a:gridCol w="2518920"/>
              </a:tblGrid>
              <a:tr h="343800">
                <a:tc gridSpan="2"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Event Type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Number of Events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 % of Grades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43800">
                <a:tc gridSpan="2"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Weekly Quizzes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10(9)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25%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43800">
                <a:tc gridSpan="2"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Lab 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25%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43800">
                <a:tc gridSpan="2"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Lab 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25%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545040">
                <a:tc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Lab3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25%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270360">
                <a:tc gridSpan="2"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 hMerge="1"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43800">
                <a:tc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43800">
                <a:tc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14040" rIns="14040" tIns="1404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b" marL="14040" marR="140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2"/>
          <p:cNvGraphicFramePr/>
          <p:nvPr/>
        </p:nvGraphicFramePr>
        <p:xfrm>
          <a:off x="457200" y="4427640"/>
          <a:ext cx="8229240" cy="1698120"/>
        </p:xfrm>
        <a:graphic>
          <a:graphicData uri="http://schemas.openxmlformats.org/drawingml/2006/table">
            <a:tbl>
              <a:tblPr/>
              <a:tblGrid>
                <a:gridCol w="1066320"/>
                <a:gridCol w="716040"/>
                <a:gridCol w="716040"/>
                <a:gridCol w="716040"/>
                <a:gridCol w="716040"/>
                <a:gridCol w="716040"/>
                <a:gridCol w="716040"/>
                <a:gridCol w="716040"/>
                <a:gridCol w="716040"/>
                <a:gridCol w="716040"/>
                <a:gridCol w="718560"/>
              </a:tblGrid>
              <a:tr h="849240"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Letter Grade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A-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B+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B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B -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C+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C-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F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849240"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Threshold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9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5%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90%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87%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83%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80%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77%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73%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70%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65%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600" rIns="12600" tIns="1260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mbria"/>
                        </a:rPr>
                        <a:t>-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b" marL="12600" marR="126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4000" spc="-1" strike="noStrike">
                <a:solidFill>
                  <a:srgbClr val="000000"/>
                </a:solidFill>
                <a:latin typeface="Cambria"/>
              </a:rPr>
              <a:t>Grade Calculation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9"/>
          </p:nvPr>
        </p:nvSpPr>
        <p:spPr>
          <a:xfrm>
            <a:off x="7004520" y="64987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spcAft>
                <a:spcPts val="601"/>
              </a:spcAft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spcAft>
                <a:spcPts val="601"/>
              </a:spcAft>
              <a:buNone/>
            </a:pPr>
            <a:fld id="{09CDD679-9559-41C7-8E4C-22EA0325FA39}" type="slidenum">
              <a:rPr b="0" lang="en-US" sz="1200" spc="-1" strike="noStrike">
                <a:solidFill>
                  <a:srgbClr val="8b8b8b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Things to discuss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Introduction: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Your name?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Your title?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What are you interested in?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6F50CC-487B-47BC-B753-AF2CA49BC8D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What does it take to understand the material?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000"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Logical thinking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Perseverance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Complete reading assignment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before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the lecture (weekly quizzes).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Communicate.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…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+ see Syllabus 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 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(attend lectures and complete lab assignments, obtain material, do quizzes before the lecture, etc.)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Don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’t procrastinate </a:t>
            </a:r>
            <a:r>
              <a:rPr b="0" lang="en-US" sz="3200" spc="-1" strike="noStrike">
                <a:solidFill>
                  <a:srgbClr val="000000"/>
                </a:solidFill>
                <a:latin typeface="Wingdings"/>
                <a:ea typeface="ＭＳ Ｐゴシック"/>
              </a:rPr>
              <a:t>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0"/>
          </p:nvPr>
        </p:nvSpPr>
        <p:spPr>
          <a:xfrm>
            <a:off x="7004520" y="64987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8b8b8b"/>
                </a:solidFill>
                <a:latin typeface="Arial"/>
                <a:ea typeface="ＭＳ Ｐゴシック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DF66BD-D6A3-4078-B14A-24DDCAC45FA5}" type="slidenum">
              <a:rPr b="0" lang="en-US" sz="1400" spc="-1" strike="noStrike">
                <a:solidFill>
                  <a:srgbClr val="8b8b8b"/>
                </a:solidFill>
                <a:latin typeface="Arial"/>
                <a:ea typeface="ＭＳ Ｐゴシック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609480"/>
            <a:ext cx="6171840" cy="6854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00"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Course Texts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304920" y="1676520"/>
            <a:ext cx="7238520" cy="4190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000"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3200" spc="-1" strike="noStrike">
                <a:solidFill>
                  <a:srgbClr val="000000"/>
                </a:solidFill>
                <a:latin typeface="Cambria"/>
              </a:rPr>
              <a:t>Introduction to Statistical Learning with Applications in R </a:t>
            </a: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 by Gareth James et al: 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https://static1.squarespace.com/static/5ff2adbe3fe4fe33db902812/t/6062a083acbfe82c7195b27d/1617076404560/ISLR%2BSeventh%2BPrinting.pdf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The Elements of Statistical Learning by Trevor Hastie et al: 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0000ff"/>
                </a:solidFill>
                <a:uFillTx/>
                <a:latin typeface="Cambria"/>
                <a:hlinkClick r:id="rId1"/>
              </a:rPr>
              <a:t>https://web.stanford.edu/~hastie/Papers/ESLII.pdf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3200" spc="-1" strike="noStrike">
                <a:solidFill>
                  <a:srgbClr val="000000"/>
                </a:solidFill>
                <a:latin typeface="Cambria"/>
              </a:rPr>
              <a:t>Mining of Massive Datasets</a:t>
            </a: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 by Jure Leskovec et al: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0000ff"/>
                </a:solidFill>
                <a:uFillTx/>
                <a:latin typeface="Cambria"/>
                <a:hlinkClick r:id="rId2"/>
              </a:rPr>
              <a:t>http://infolab.stanford.edu/~ullman/mmds/book.pdf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0FEED2-7865-452A-B978-27EA66B27340}" type="slidenum">
              <a:t>8</a:t>
            </a:fld>
          </a:p>
        </p:txBody>
      </p:sp>
    </p:spTree>
  </p:cSld>
  <p:transition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How to Study for This Course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85800" y="1328040"/>
            <a:ext cx="7772040" cy="483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3000"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Read the book!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Read chapters ahead of the lecture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First skim for major ideas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Return and re-read for details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Re-read as necessary to solidify concepts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marL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Complete All Lab Assignments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Complete them independently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The week of August 20</a:t>
            </a:r>
            <a:r>
              <a:rPr b="0" lang="en-US" sz="3200" spc="-1" strike="noStrike" baseline="30000">
                <a:solidFill>
                  <a:srgbClr val="000000"/>
                </a:solidFill>
                <a:latin typeface="Cambria"/>
              </a:rPr>
              <a:t>th</a:t>
            </a: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 I will give you lectures on Zoom.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0E611D-5F97-4880-9662-E8CA0866092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Software and Lab Environment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5257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We will use R and RStudio for our computing needs during this course.  You can expect to spend a good deal of time each week building machine learning models in the R programming language. 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You can read more about these tools at the following links: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R Statistical Software:  </a:t>
            </a:r>
            <a:r>
              <a:rPr b="0" lang="en-US" sz="2800" spc="-1" strike="noStrike" u="sng">
                <a:solidFill>
                  <a:srgbClr val="0000ff"/>
                </a:solidFill>
                <a:uFillTx/>
                <a:latin typeface="Cambria"/>
                <a:hlinkClick r:id="rId1"/>
              </a:rPr>
              <a:t>https://www.r-project.org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B2CA6E-AD97-4A46-A711-A32935D1DBC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5440" y="-1288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Weekly Schedule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762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000"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Cambria"/>
              </a:rPr>
              <a:t>Sunday (</a:t>
            </a:r>
            <a:r>
              <a:rPr b="1" lang="en-US" sz="3200" spc="-1" strike="noStrike" u="sng">
                <a:solidFill>
                  <a:srgbClr val="000000"/>
                </a:solidFill>
                <a:uFillTx/>
                <a:latin typeface="Cambria"/>
              </a:rPr>
              <a:t>due by 23:55 PST</a:t>
            </a:r>
            <a:r>
              <a:rPr b="1" lang="en-US" sz="3200" spc="-1" strike="noStrike">
                <a:solidFill>
                  <a:srgbClr val="000000"/>
                </a:solidFill>
                <a:latin typeface="Cambria"/>
              </a:rPr>
              <a:t>):</a:t>
            </a: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 NLT complete reading assignment and weekly quiz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Cambria"/>
              </a:rPr>
              <a:t>Monday to Thurs: GL122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Part I:  Instructor Feedback/Discussion of Prior Week (quiz/lab/etc.)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Part II: Conceptual Overview of New Material (i.e. lecture)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Part III: Practical Application (in-class lab)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Take-Home Lab Assignment (start during class and finish on your own)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Cambria"/>
              </a:rPr>
              <a:t>Sunday:</a:t>
            </a: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  Multi-week labs will be due by 23:55 PST.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6F9B26-A7DC-4565-905C-F01A8E651E0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163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Expectation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526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000"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Cambria"/>
              </a:rPr>
              <a:t>Before each week’s lecture: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 u="sng">
                <a:solidFill>
                  <a:srgbClr val="000000"/>
                </a:solidFill>
                <a:uFillTx/>
                <a:latin typeface="Cambria"/>
              </a:rPr>
              <a:t>Do the assigned reading for the lecture </a:t>
            </a:r>
            <a:r>
              <a:rPr b="0" i="1" lang="en-US" sz="2800" spc="-1" strike="noStrike" u="sng">
                <a:solidFill>
                  <a:srgbClr val="000000"/>
                </a:solidFill>
                <a:uFillTx/>
                <a:latin typeface="Cambria"/>
              </a:rPr>
              <a:t>prior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mbria"/>
              </a:rPr>
              <a:t> to attending the lecture</a:t>
            </a: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 u="sng">
                <a:solidFill>
                  <a:srgbClr val="000000"/>
                </a:solidFill>
                <a:uFillTx/>
                <a:latin typeface="Cambria"/>
              </a:rPr>
              <a:t>Complete the weekly quiz (due the night before the lecture)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Compile a list of questions/topics you would like to ask/discuss during the lecture.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pc="-1" strike="noStrike">
                <a:solidFill>
                  <a:srgbClr val="000000"/>
                </a:solidFill>
                <a:latin typeface="Cambria"/>
              </a:rPr>
              <a:t>After each week’s lecture: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Complete each week’s lab assignment (note that lab assignments “build” over several weeks)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Begin preparing for the </a:t>
            </a:r>
            <a:r>
              <a:rPr b="0" i="1" lang="en-US" sz="2800" spc="-1" strike="noStrike">
                <a:solidFill>
                  <a:srgbClr val="000000"/>
                </a:solidFill>
                <a:latin typeface="Cambria"/>
              </a:rPr>
              <a:t>next </a:t>
            </a: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lecture (reading and homework)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7DBB89-F67C-4F42-BC6F-114CC954E9F0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163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Expectation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526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mbria"/>
              </a:rPr>
              <a:t>You should plan to spend:</a:t>
            </a: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this course averages between ten and fifteen required hours per week (depending on the student). 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mbria"/>
              </a:rPr>
              <a:t>This includes time to read (1-2 hours), take the quiz (30 minutes), complete each week’s lab assignment (7-10 hours), and attend class (4 hours including lab time). </a:t>
            </a:r>
            <a:endParaRPr b="0" lang="en-US" sz="2800" spc="-1" strike="noStrike">
              <a:solidFill>
                <a:srgbClr val="000000"/>
              </a:solidFill>
              <a:latin typeface="Cambria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7EDA9E-45DE-4612-BBC5-37BAC7CD16F7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07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mbria"/>
              </a:rPr>
              <a:t>Statistical Learning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6" name="Content Placeholder 4" descr=""/>
          <p:cNvPicPr/>
          <p:nvPr/>
        </p:nvPicPr>
        <p:blipFill>
          <a:blip r:embed="rId1"/>
          <a:stretch/>
        </p:blipFill>
        <p:spPr>
          <a:xfrm>
            <a:off x="1755720" y="1691280"/>
            <a:ext cx="2520360" cy="3797280"/>
          </a:xfrm>
          <a:prstGeom prst="rect">
            <a:avLst/>
          </a:prstGeom>
          <a:ln w="0">
            <a:noFill/>
          </a:ln>
        </p:spPr>
      </p:pic>
      <p:sp>
        <p:nvSpPr>
          <p:cNvPr id="167" name="TextBox 5"/>
          <p:cNvSpPr/>
          <p:nvPr/>
        </p:nvSpPr>
        <p:spPr>
          <a:xfrm>
            <a:off x="1482120" y="5575680"/>
            <a:ext cx="73692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https://static1.squarespace.com/static/5ff2adbe3fe4fe33db902812/t/6062a083acbfe82c7195b27d/1617076404560/ISLR%2BSeventh%2BPrinting.pdf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68" name="TextBox 6"/>
          <p:cNvSpPr/>
          <p:nvPr/>
        </p:nvSpPr>
        <p:spPr>
          <a:xfrm>
            <a:off x="4115160" y="1793160"/>
            <a:ext cx="52239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This is a great book to start with.</a:t>
            </a:r>
            <a:br>
              <a:rPr sz="2400"/>
            </a:br>
            <a:br>
              <a:rPr sz="2400"/>
            </a:b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Spring Quarter: OA 4106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A3E47F-4BFF-4C86-A184-3065C03E909F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71497</TotalTime>
  <Application>LibreOffice/7.3.7.2$Linux_X86_64 LibreOffice_project/30$Build-2</Application>
  <AppVersion>15.0000</AppVersion>
  <Words>880</Words>
  <Paragraphs>155</Paragraphs>
  <Company>University of Virginia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2016-01-15T15:26:15Z</dcterms:created>
  <dc:creator>Sam Huddleston</dc:creator>
  <dc:description/>
  <dc:language>en-US</dc:language>
  <cp:lastModifiedBy>Yoshida, Ruriko (Rudy) (CIV)</cp:lastModifiedBy>
  <cp:lastPrinted>2016-01-21T21:37:44Z</cp:lastPrinted>
  <dcterms:modified xsi:type="dcterms:W3CDTF">2023-07-05T15:08:56Z</dcterms:modified>
  <cp:revision>783</cp:revision>
  <dc:subject/>
  <dc:title>Making the Leap from Analysis to Analytics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(4:3)</vt:lpwstr>
  </property>
  <property fmtid="{D5CDD505-2E9C-101B-9397-08002B2CF9AE}" pid="4" name="Slides">
    <vt:i4>14</vt:i4>
  </property>
</Properties>
</file>